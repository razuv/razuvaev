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b365bfb624b51" /><Relationship Type="http://schemas.openxmlformats.org/officeDocument/2006/relationships/extended-properties" Target="/docProps/app.xml" Id="Rd6fd373e74044aac" /><Relationship Type="http://schemas.openxmlformats.org/officeDocument/2006/relationships/officeDocument" Target="/ppt/presentation.xml" Id="R712571871893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4a7aba77c4619"/>
  </p:sldMasterIdLst>
  <p:notesMasterIdLst>
    <p:notesMasterId xmlns:r="http://schemas.openxmlformats.org/officeDocument/2006/relationships" r:id="R729db20ec2b74eff"/>
  </p:notesMasterIdLst>
  <p:sldIdLst>
    <p:sldId xmlns:r="http://schemas.openxmlformats.org/officeDocument/2006/relationships" id="256" r:id="R45d56488672144f7"/>
    <p:sldId xmlns:r="http://schemas.openxmlformats.org/officeDocument/2006/relationships" id="257" r:id="R2b648e5c97ea4872"/>
    <p:sldId xmlns:r="http://schemas.openxmlformats.org/officeDocument/2006/relationships" id="258" r:id="Ra2b679a49f4e4c2f"/>
    <p:sldId xmlns:r="http://schemas.openxmlformats.org/officeDocument/2006/relationships" id="259" r:id="R4eda2f56bb53427f"/>
    <p:sldId xmlns:r="http://schemas.openxmlformats.org/officeDocument/2006/relationships" id="260" r:id="Rd23d20830e2e4dd3"/>
    <p:sldId xmlns:r="http://schemas.openxmlformats.org/officeDocument/2006/relationships" id="261" r:id="R89972cfbfdd04ddd"/>
    <p:sldId xmlns:r="http://schemas.openxmlformats.org/officeDocument/2006/relationships" id="262" r:id="Rf906a049574d495c"/>
    <p:sldId xmlns:r="http://schemas.openxmlformats.org/officeDocument/2006/relationships" id="263" r:id="R0e0562b1ef7541bf"/>
    <p:sldId xmlns:r="http://schemas.openxmlformats.org/officeDocument/2006/relationships" id="264" r:id="R750ab549f31d42f2"/>
    <p:sldId xmlns:r="http://schemas.openxmlformats.org/officeDocument/2006/relationships" id="265" r:id="R0c4c9c2f45d748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d890e66f7949ef" /><Relationship Type="http://schemas.openxmlformats.org/officeDocument/2006/relationships/slideMaster" Target="/ppt/slideMasters/slideMaster1.xml" Id="R0674a7aba77c4619" /><Relationship Type="http://schemas.openxmlformats.org/officeDocument/2006/relationships/notesMaster" Target="/ppt/notesMasters/notesMaster1.xml" Id="R729db20ec2b74eff" /><Relationship Type="http://schemas.openxmlformats.org/officeDocument/2006/relationships/presProps" Target="/ppt/presProps.xml" Id="R4e316704e8564087" /><Relationship Type="http://schemas.openxmlformats.org/officeDocument/2006/relationships/tableStyles" Target="/ppt/tableStyles.xml" Id="R181bf72588054342" /><Relationship Type="http://schemas.openxmlformats.org/officeDocument/2006/relationships/slide" Target="/ppt/slides/slide1.xml" Id="R45d56488672144f7" /><Relationship Type="http://schemas.openxmlformats.org/officeDocument/2006/relationships/slide" Target="/ppt/slides/slide2.xml" Id="R2b648e5c97ea4872" /><Relationship Type="http://schemas.openxmlformats.org/officeDocument/2006/relationships/slide" Target="/ppt/slides/slide3.xml" Id="Ra2b679a49f4e4c2f" /><Relationship Type="http://schemas.openxmlformats.org/officeDocument/2006/relationships/slide" Target="/ppt/slides/slide4.xml" Id="R4eda2f56bb53427f" /><Relationship Type="http://schemas.openxmlformats.org/officeDocument/2006/relationships/slide" Target="/ppt/slides/slide5.xml" Id="Rd23d20830e2e4dd3" /><Relationship Type="http://schemas.openxmlformats.org/officeDocument/2006/relationships/slide" Target="/ppt/slides/slide6.xml" Id="R89972cfbfdd04ddd" /><Relationship Type="http://schemas.openxmlformats.org/officeDocument/2006/relationships/slide" Target="/ppt/slides/slide7.xml" Id="Rf906a049574d495c" /><Relationship Type="http://schemas.openxmlformats.org/officeDocument/2006/relationships/slide" Target="/ppt/slides/slide8.xml" Id="R0e0562b1ef7541bf" /><Relationship Type="http://schemas.openxmlformats.org/officeDocument/2006/relationships/slide" Target="/ppt/slides/slide9.xml" Id="R750ab549f31d42f2" /><Relationship Type="http://schemas.openxmlformats.org/officeDocument/2006/relationships/slide" Target="/ppt/slides/slide10.xml" Id="R0c4c9c2f45d748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5ed379299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02365d9de4ad2" /><Relationship Type="http://schemas.openxmlformats.org/officeDocument/2006/relationships/notesMaster" Target="/ppt/notesMasters/notesMaster1.xml" Id="Rd9a7b75794c644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a7ba9ea763443b" /><Relationship Type="http://schemas.openxmlformats.org/officeDocument/2006/relationships/notesMaster" Target="/ppt/notesMasters/notesMaster1.xml" Id="R26086307294141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b124bfdb847d5" /><Relationship Type="http://schemas.openxmlformats.org/officeDocument/2006/relationships/notesMaster" Target="/ppt/notesMasters/notesMaster1.xml" Id="Re0706e32304348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e49556f9ce4c57" /><Relationship Type="http://schemas.openxmlformats.org/officeDocument/2006/relationships/notesMaster" Target="/ppt/notesMasters/notesMaster1.xml" Id="R3e485e42fba844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d32a848ca14559" /><Relationship Type="http://schemas.openxmlformats.org/officeDocument/2006/relationships/notesMaster" Target="/ppt/notesMasters/notesMaster1.xml" Id="R0de523ba0f134c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e9b1630a154e1a" /><Relationship Type="http://schemas.openxmlformats.org/officeDocument/2006/relationships/notesMaster" Target="/ppt/notesMasters/notesMaster1.xml" Id="R092296a7c1314b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4af54ec4a6480d" /><Relationship Type="http://schemas.openxmlformats.org/officeDocument/2006/relationships/notesMaster" Target="/ppt/notesMasters/notesMaster1.xml" Id="Rafad9fd9736146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2ccf12d0d348ac" /><Relationship Type="http://schemas.openxmlformats.org/officeDocument/2006/relationships/notesMaster" Target="/ppt/notesMasters/notesMaster1.xml" Id="R613c8c34d5e34e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f2d6a119a46df" /><Relationship Type="http://schemas.openxmlformats.org/officeDocument/2006/relationships/notesMaster" Target="/ppt/notesMasters/notesMaster1.xml" Id="Re5ca6567c8ec41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b504636f5b4477" /><Relationship Type="http://schemas.openxmlformats.org/officeDocument/2006/relationships/notesMaster" Target="/ppt/notesMasters/notesMaster1.xml" Id="Re938b83cc4044c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техническое задание TZ_brendbuk_KAST.docx; визуальные референсы me.razuvaev.tv/#/works и kast-spb.ru. Фото: Nataliya Melnychuk, Unsplash; файл предоставлен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формулировок: TZ_brendbuk_KAST.docx, разделы 1, 2 и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TZ_brendbuk_KAST.docx, разделы 3, 4 и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KAST_presentation_client.pdf, слайд 3; TZ_brendbuk_KAST.docx, раздел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KAST_presentation_client.pdf, слайды 3–4; TZ_brendbuk_KAST.docx, разделы 5, 6, 11–13 и 16. Изображение изделия: kast-spb.ru.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KAST_presentation_client.pdf, слайды 5–6; TZ_brendbuk_KAST.docx, разделы 10, 14 и 15. Изображения изделий: kast-spb.ru.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KAST_presentation_client.pdf, слайд 7; KAST_smeta_kommercial.pdf, страницы 1–2. Арифметика: 230 000 + 250 000 + 410 000 + 450 000 + 260 000 + 250 000 = 1 850 000 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KAST_presentation_client.pdf, слайд 8; KAST_smeta_kommercial.pdf, страница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KAST_presentation_client.pdf, слайд 9; KAST_smeta_kommercial.pdf, страница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KAST_presentation_client.pdf, слайд 10; KAST_smeta_kommercial.pdf, страница 3. Логотип и изображение изделия: kast-spb.ru.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26f8f2f564b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410a1c3314036" /><Relationship Type="http://schemas.openxmlformats.org/officeDocument/2006/relationships/slideLayout" Target="/ppt/slideLayouts/slideLayout1.xml" Id="Rc9d9b22ca1d540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d9b22ca1d540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1e93e8be34dab" /><Relationship Type="http://schemas.openxmlformats.org/officeDocument/2006/relationships/image" Target="/ppt/media/image.jpeg" Id="Rb1b4373c95ff43b0" /><Relationship Type="http://schemas.openxmlformats.org/officeDocument/2006/relationships/image" Target="/ppt/media/image.png" Id="R104def4c3ca84f6d" /><Relationship Type="http://schemas.openxmlformats.org/officeDocument/2006/relationships/image" Target="/ppt/media/image.svg" Id="R9c34ff6bbea04bfb" /><Relationship Type="http://schemas.openxmlformats.org/officeDocument/2006/relationships/notesSlide" Target="/ppt/notesSlides/notesSlide1.xml" Id="R662b9c37ceb1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3ef4a4c6b4c5a" /><Relationship Type="http://schemas.openxmlformats.org/officeDocument/2006/relationships/image" Target="/ppt/media/image2.png" Id="R9ce9d173905b4029" /><Relationship Type="http://schemas.openxmlformats.org/officeDocument/2006/relationships/image" Target="/ppt/media/image2.svg" Id="R9e7dea8012bf4744" /><Relationship Type="http://schemas.openxmlformats.org/officeDocument/2006/relationships/notesSlide" Target="/ppt/notesSlides/notesSlide2.xml" Id="R588c9de4f97746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17d98cf4d4847" /><Relationship Type="http://schemas.openxmlformats.org/officeDocument/2006/relationships/image" Target="/ppt/media/image3.png" Id="R3c8447073fc444d7" /><Relationship Type="http://schemas.openxmlformats.org/officeDocument/2006/relationships/image" Target="/ppt/media/image3.svg" Id="R1a675ebb6fd8485d" /><Relationship Type="http://schemas.openxmlformats.org/officeDocument/2006/relationships/notesSlide" Target="/ppt/notesSlides/notesSlide3.xml" Id="Rab0db24366f547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68751a404922" /><Relationship Type="http://schemas.openxmlformats.org/officeDocument/2006/relationships/image" Target="/ppt/media/image4.png" Id="Rd146a96ffc2c46bb" /><Relationship Type="http://schemas.openxmlformats.org/officeDocument/2006/relationships/image" Target="/ppt/media/image4.svg" Id="Rda3b3982679346ec" /><Relationship Type="http://schemas.openxmlformats.org/officeDocument/2006/relationships/notesSlide" Target="/ppt/notesSlides/notesSlide4.xml" Id="Rda3f896732b14d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24905f84949a9" /><Relationship Type="http://schemas.openxmlformats.org/officeDocument/2006/relationships/image" Target="/ppt/media/image5.png" Id="R98da9b633ab741ca" /><Relationship Type="http://schemas.openxmlformats.org/officeDocument/2006/relationships/image" Target="/ppt/media/image6.png" Id="Ra54cb02191a8410b" /><Relationship Type="http://schemas.openxmlformats.org/officeDocument/2006/relationships/image" Target="/ppt/media/image5.svg" Id="Rd5187c5aa9584223" /><Relationship Type="http://schemas.openxmlformats.org/officeDocument/2006/relationships/notesSlide" Target="/ppt/notesSlides/notesSlide5.xml" Id="R9fca40df140441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c654764124f29" /><Relationship Type="http://schemas.openxmlformats.org/officeDocument/2006/relationships/image" Target="/ppt/media/image7.png" Id="R445d623ad21e4803" /><Relationship Type="http://schemas.openxmlformats.org/officeDocument/2006/relationships/image" Target="/ppt/media/image8.png" Id="R1e725981cb5f42da" /><Relationship Type="http://schemas.openxmlformats.org/officeDocument/2006/relationships/image" Target="/ppt/media/image9.png" Id="R303848bec6e94915" /><Relationship Type="http://schemas.openxmlformats.org/officeDocument/2006/relationships/image" Target="/ppt/media/image6.svg" Id="R2145a1174b374284" /><Relationship Type="http://schemas.openxmlformats.org/officeDocument/2006/relationships/notesSlide" Target="/ppt/notesSlides/notesSlide6.xml" Id="Rb3035bc2524d40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7c95d64bc4ea3" /><Relationship Type="http://schemas.openxmlformats.org/officeDocument/2006/relationships/image" Target="/ppt/media/image10.png" Id="R0d6b3d4024d748b9" /><Relationship Type="http://schemas.openxmlformats.org/officeDocument/2006/relationships/image" Target="/ppt/media/image7.svg" Id="R2ccbc5c39b8b4227" /><Relationship Type="http://schemas.openxmlformats.org/officeDocument/2006/relationships/notesSlide" Target="/ppt/notesSlides/notesSlide7.xml" Id="R6503a6a87de245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974cbe8a549b2" /><Relationship Type="http://schemas.openxmlformats.org/officeDocument/2006/relationships/image" Target="/ppt/media/image11.png" Id="R9612ad4a4e204d55" /><Relationship Type="http://schemas.openxmlformats.org/officeDocument/2006/relationships/image" Target="/ppt/media/image8.svg" Id="R10947f433b264046" /><Relationship Type="http://schemas.openxmlformats.org/officeDocument/2006/relationships/notesSlide" Target="/ppt/notesSlides/notesSlide8.xml" Id="R3c43fd90c8c746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363ef47a9461f" /><Relationship Type="http://schemas.openxmlformats.org/officeDocument/2006/relationships/image" Target="/ppt/media/image12.png" Id="R8ffc8b158f7d463a" /><Relationship Type="http://schemas.openxmlformats.org/officeDocument/2006/relationships/image" Target="/ppt/media/image9.svg" Id="R33322815e5d24980" /><Relationship Type="http://schemas.openxmlformats.org/officeDocument/2006/relationships/notesSlide" Target="/ppt/notesSlides/notesSlide9.xml" Id="R6bd8fa08bad445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f6bee1d82422e" /><Relationship Type="http://schemas.openxmlformats.org/officeDocument/2006/relationships/image" Target="/ppt/media/image13.png" Id="Re322bc8ba2b040bf" /><Relationship Type="http://schemas.openxmlformats.org/officeDocument/2006/relationships/image" Target="/ppt/media/image14.png" Id="Rcd34850461014b4c" /><Relationship Type="http://schemas.openxmlformats.org/officeDocument/2006/relationships/image" Target="/ppt/media/image10.svg" Id="Raf104838078b4248" /><Relationship Type="http://schemas.openxmlformats.org/officeDocument/2006/relationships/notesSlide" Target="/ppt/notesSlides/notesSlide10.xml" Id="R135bf02822c24f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7AB0B-C6B6-4163-BA92-E38FB965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1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2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4373c95ff43b0"/>
          <a:srcRect xmlns:a="http://schemas.openxmlformats.org/drawingml/2006/main" l="0" t="8261" r="0" b="8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0"/>
            <a:ext cx="54768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B0EA6-6880-4928-AB8F-FC706FC0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2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D3A3F-D7C5-4C70-A582-E608F606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КОММЕРЧЕСКОЕ ПРЕДЛОЖЕНИЕ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A3B35-3AED-4492-A762-5F13E4C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54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КАСТ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A3267-EF2F-4751-8DF6-F48470D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52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825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Бренд-система</a:t>
            </a:r>
          </a:p>
          <a:p xmlns:a="http://schemas.openxmlformats.org/drawingml/2006/main">
            <a:pPr algn="l">
              <a:defRPr sz="3825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825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для ювелирного дома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4988F-3858-4CCE-8119-96E3A8C3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27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сентябрь 2026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def4c3ca84f6d">
            <a:extLst>
              <a:ext uri="{96DAC541-7B7A-43D3-8B79-37D633B846F1}">
                <asvg:svgBlip xmlns:asvg="http://schemas.microsoft.com/office/drawing/2016/SVG/main" r:embed="R9c34ff6bbea04b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9C0AD-968D-43D9-BD5E-32DCA105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</p:spTree>
    <p:extLst>
      <p:ext uri="{BB962C8B-B14F-4D97-AF65-F5344CB8AC3E}">
        <p14:creationId xmlns:p14="http://schemas.microsoft.com/office/powerpoint/2010/main" val="1247796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C9647-A176-43E6-9A5B-C4256EEF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01  СТРАТЕГИЯ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079E5-C153-4033-B9CC-EB06F2A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Смена акцента бренда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38454-50EE-43BB-B745-76A0BC6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БЫЛО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D879C-520A-4D5B-AA31-BFE97E0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8A8F94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700" b="0" i="0">
                <a:solidFill>
                  <a:srgbClr val="8A8F94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ювелирный завод</a:t>
            </a:r>
          </a:p>
          <a:p xmlns:a="http://schemas.openxmlformats.org/drawingml/2006/main">
            <a:pPr algn="l">
              <a:defRPr sz="2700" b="0" i="0">
                <a:solidFill>
                  <a:srgbClr val="8A8F94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700" b="0" i="0">
                <a:solidFill>
                  <a:srgbClr val="8A8F94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с собственным брендом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80136-A377-4873-8D02-70CB3C8B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94E19-3603-4786-9872-D8CBB69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СТАЛО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0DC56-B103-4507-AAC7-09ED7C5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15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петербургский</a:t>
            </a:r>
          </a:p>
          <a:p xmlns:a="http://schemas.openxmlformats.org/drawingml/2006/main">
            <a:pPr algn="l">
              <a:defRPr sz="315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15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ювелирный дом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906BA-D89E-4E8A-882C-0800CB65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43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650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Собственное производство, художественная школа и тридцатилетняя история становятся доказательствами ценности.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09C91-C281-47A6-9E01-00F25413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100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Преемственность сохраняется. Статус растёт.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9d173905b4029">
            <a:extLst>
              <a:ext uri="{96DAC541-7B7A-43D3-8B79-37D633B846F1}">
                <asvg:svgBlip xmlns:asvg="http://schemas.microsoft.com/office/drawing/2016/SVG/main" r:embed="R9e7dea8012bf47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CD776-25F0-456A-BB04-8F87CA9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9F312-B17E-4003-99F2-C7341DD3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4169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32420-E380-4553-87DB-0BF49C26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02  ХАРАКТЕР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BD948-CBC8-4C33-96D8-96FC201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Визуальный образ КАСТ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49AF1-167D-4665-98EB-2AC8A5B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3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ПЕТЕРБУРГСКИЙ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72D2C-F09F-4BB5-A0BA-8E8F343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3F3CE-12F5-410E-BF3A-40E48769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98D">
              <a:alpha val="53333"/>
            </a:srgbClr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EC89F-9C66-4EDF-9D63-6F95467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ИНТЕЛЛИГЕНТНЫЙ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774DB-FF2F-457C-ABA2-924AB5F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05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E8E51-0E10-4C3C-BF45-E105DAF9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98D">
              <a:alpha val="53333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608E1-17E9-43A7-9DBC-709606E7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СОВРЕМЕННЫЙ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F8EEA-4EB1-4496-8B81-C88E1B5C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90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5474F-A16B-4B57-9C5C-AEDF946A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147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98D">
              <a:alpha val="53333"/>
            </a:srgbClr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855C5-2B81-4B00-AEC4-931961A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СДЕРЖАННЫЙ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1EF45-768E-4106-8D60-417D90EA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76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766FC-8A28-4E54-B2F7-F932C945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005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98D">
              <a:alpha val="53333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2B62D-8565-4C8C-9A75-526581A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925" b="0" i="0">
                <a:solidFill>
                  <a:srgbClr val="B8C0C7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МАСТЕРСКИЙ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8F6B3-3261-4F1A-A577-76DBB97C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6103E-66C1-4BF2-A819-7B09791D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863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98D">
              <a:alpha val="53333"/>
            </a:srgbClr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58E65-39B1-4529-B455-8E3F49E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42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Уверенно и спокойно. Без туристических символов Петербурга и демонстративной роскоши.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447073fc444d7">
            <a:extLst>
              <a:ext uri="{96DAC541-7B7A-43D3-8B79-37D633B846F1}">
                <asvg:svgBlip xmlns:asvg="http://schemas.microsoft.com/office/drawing/2016/SVG/main" r:embed="R1a675ebb6fd848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9F703-6068-40EC-846E-822AC676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1E802-8257-41E4-A97B-B110743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2691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E12D5-793A-46AD-BE14-F0E5C034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03  ОБЪЁМ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3F66F-B230-4288-B35F-D7D5BDD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Что входит в проект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7B3B3-9EA9-48E8-B98E-0FC20825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98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8694B-2549-4413-86D9-6091BBD2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C1DB7-FB12-4205-9581-D5B8C135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1B6D4-EF57-4231-9B25-CEE3D69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362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Логотип и монограмма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Цвет и типографика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Графическая система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Фотостиль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CAAC5-F24E-4561-8506-7AE99DB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621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93EA8-36F0-4885-8A36-3E3749F4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55592-29FE-4712-90A8-BA448DA3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BRAND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4A8F3-C0AB-4109-9F7E-EAEE092C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24200"/>
            <a:ext cx="2362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HERITAGE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Архитектура коллекций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MANUFACTURE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Tone of 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D46E0-286C-49A3-8C3F-372B3DC3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8ECEA-1F4F-409A-96C3-0C018379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33DBC-D118-44FB-A3AD-C5CE54B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PHYSICAL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45ACC-2CAA-467D-8F43-924CA013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2362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Упаковка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Полиграфия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Retail и showroom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POS-материалы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ABA3C-6543-445B-96EB-0A023C67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CDEAE-9449-4CCA-B525-B600DFFF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9CEC7-4D9E-4AE7-96B6-D4E8ADE8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725" b="1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DIGITAL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E9CC8-C27D-4FE9-AED9-0ECAED22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2362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UI-направление сайта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Social и email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Digital-паттерны</a:t>
            </a:r>
          </a:p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Figma-компоненты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C861B-8396-41B7-9B1B-A06452FD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22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1875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Результат: целостная система, которую команда и подрядчики применяют без участия автора.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6a96ffc2c46bb">
            <a:extLst>
              <a:ext uri="{96DAC541-7B7A-43D3-8B79-37D633B846F1}">
                <asvg:svgBlip xmlns:asvg="http://schemas.microsoft.com/office/drawing/2016/SVG/main" r:embed="Rda3b3982679346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D7079-A04B-4E50-8CD7-EA5C448C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E4A2C-AFBC-4820-A1BA-2E46A3A3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0036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5A6BB-8AA6-4A99-80E7-5BAECC21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04 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222F8-CD38-4F15-8432-4E6976F5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Айдентика и бренд-системы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a9b633ab741ca"/>
          <a:stretch xmlns:a="http://schemas.openxmlformats.org/drawingml/2006/main"/>
        </p:blipFill>
        <p:spPr>
          <a:xfrm xmlns:a="http://schemas.openxmlformats.org/drawingml/2006/main">
            <a:off x="7524750" y="139065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40BBA-AC81-4DA4-B6A4-A093056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57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4800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3–5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281F5-95CD-4AD9-9425-804F549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240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650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направлений логотипа</a:t>
            </a:r>
          </a:p>
          <a:p xmlns:a="http://schemas.openxmlformats.org/drawingml/2006/main">
            <a:pPr algn="l">
              <a:defRPr sz="1650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650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с финальной доработкой выбранного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20B09-0E68-4C5E-BD01-DDA21DB3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F5711-9353-4723-888C-84F355C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175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КАСТ / KAST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B8352-72C6-42A1-9E04-D23DBE3D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Кириллица и латиница, монограмма «К», цветовые версии, паттерны и правила использования.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6DC49-2793-4C0A-96BF-DC59689C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Отдельные системы: HERITAGE, архитектура коллекций, MANUFACTURE и голос бренда.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cb02191a8410b">
            <a:extLst>
              <a:ext uri="{96DAC541-7B7A-43D3-8B79-37D633B846F1}">
                <asvg:svgBlip xmlns:asvg="http://schemas.microsoft.com/office/drawing/2016/SVG/main" r:embed="Rd5187c5aa95842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D7F26-2D7E-4AC8-BFDD-F81A20D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F6353-DFB6-478D-8590-F0333DD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389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25C14-8BF3-4076-BFD2-C4CF0DF6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05  НОСИТЕЛИ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33968-6921-46BD-9997-D3B3BFFE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От упаковки до интерфейса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d623ad21e4803"/>
          <a:stretch xmlns:a="http://schemas.openxmlformats.org/drawingml/2006/main"/>
        </p:blipFill>
        <p:spPr>
          <a:xfrm xmlns:a="http://schemas.openxmlformats.org/drawingml/2006/main">
            <a:off x="8334375" y="1219200"/>
            <a:ext cx="2381250" cy="23812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25981cb5f42da"/>
          <a:stretch xmlns:a="http://schemas.openxmlformats.org/drawingml/2006/main"/>
        </p:blipFill>
        <p:spPr>
          <a:xfrm xmlns:a="http://schemas.openxmlformats.org/drawingml/2006/main">
            <a:off x="8334375" y="38100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1A301-4D6B-4404-92B8-F0673350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20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PHYSICAL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47853-8B3F-4ED7-B961-8D5220F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55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Упаковка и полиграфия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F76FA-9625-44FF-8887-6AD6CEAD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71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Коробки, футляры, пакет, сертификаты, документы и транспортная упаковка. Вывеска, витрины, навигация и материалы шоурума.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A235B-E27D-476C-969C-515B200A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200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DIGITAL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456C3-5F06-4867-AA1E-5D462F84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55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UI-концепция kast-spb.ru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91C2A-B4AA-4325-A59A-A4E618B5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00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Ключевые экраны и компоненты с сохранением e-commerce-функциональности.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848bec6e94915">
            <a:extLst>
              <a:ext uri="{96DAC541-7B7A-43D3-8B79-37D633B846F1}">
                <asvg:svgBlip xmlns:asvg="http://schemas.microsoft.com/office/drawing/2016/SVG/main" r:embed="R2145a1174b3742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8B1D3-1D85-407F-846B-014DF865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7D6A6-7F84-49F5-AF70-CC8F383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5243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3327F-ED31-4889-B1A8-B1B59B78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06  БЮДЖЕТ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0CBD0-6A84-424C-885C-239E57B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Стоимость проекта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8191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5505450"/>
                <a:gridCol w="1809750"/>
              </a:tblGrid>
              <a:tr h="4643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AF9F6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Блок</a:t>
                      </a:r>
                    </a:p>
                  </a:txBody>
                  <a:tcPr marL="133350" marR="133350" marT="85725" marB="85725" anchor="ctr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AF9F6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Состав</a:t>
                      </a:r>
                    </a:p>
                  </a:txBody>
                  <a:tcPr marL="133350" marR="133350" marT="85725" marB="85725" anchor="ctr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AF9F6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/>
                      </a:r>
                    </a:p>
                  </a:txBody>
                  <a:tcPr marL="133350" marR="133350" marT="85725" marB="85725" anchor="ctr">
                    <a:solidFill>
                      <a:srgbClr val="202832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01</a:t>
                      </a:r>
                    </a:p>
                  </a:txBody>
                  <a:tcPr marL="133350" marR="13335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Погружение и концепция</a:t>
                      </a:r>
                    </a:p>
                  </a:txBody>
                  <a:tcPr marL="133350" marR="133350" marT="76200" marB="762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230 000 ₽</a:t>
                      </a:r>
                    </a:p>
                  </a:txBody>
                  <a:tcPr marL="133350" marR="133350" marT="76200" marB="76200" anchor="ctr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02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Логотип и монограмма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250 000 ₽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03</a:t>
                      </a:r>
                    </a:p>
                  </a:txBody>
                  <a:tcPr marL="133350" marR="13335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Визуальная система и бренд-системы</a:t>
                      </a:r>
                    </a:p>
                  </a:txBody>
                  <a:tcPr marL="133350" marR="133350" marT="76200" marB="762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410 000 ₽</a:t>
                      </a:r>
                    </a:p>
                  </a:txBody>
                  <a:tcPr marL="133350" marR="133350" marT="76200" marB="76200" anchor="ctr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04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Упаковка, полиграфия и retail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450 000 ₽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05</a:t>
                      </a:r>
                    </a:p>
                  </a:txBody>
                  <a:tcPr marL="133350" marR="133350" marT="76200" marB="7620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Digital, Social / Email и ToV</a:t>
                      </a:r>
                    </a:p>
                  </a:txBody>
                  <a:tcPr marL="133350" marR="133350" marT="76200" marB="762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260 000 ₽</a:t>
                      </a:r>
                    </a:p>
                  </a:txBody>
                  <a:tcPr marL="133350" marR="133350" marT="76200" marB="76200" anchor="ctr"/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06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Брендбук и production package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02A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250 000 ₽</a:t>
                      </a:r>
                    </a:p>
                  </a:txBody>
                  <a:tcPr marL="133350" marR="133350" marT="76200" marB="76200" anchor="ctr">
                    <a:solidFill>
                      <a:srgbClr val="F2F0EB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9F6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/>
                      </a:r>
                    </a:p>
                  </a:txBody>
                  <a:tcPr marL="133350" marR="133350" marT="76200" marB="76200" anchor="ctr">
                    <a:solidFill>
                      <a:srgbClr val="2C3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9F6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ИТОГО</a:t>
                      </a:r>
                    </a:p>
                  </a:txBody>
                  <a:tcPr marL="133350" marR="133350" marT="76200" marB="76200" anchor="ctr">
                    <a:solidFill>
                      <a:srgbClr val="2C37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FAF9F6"/>
                          </a:solidFill>
                          <a:latin typeface="Suisse Int'l Book"/>
                          <a:ea typeface="Suisse Int'l Book"/>
                          <a:cs typeface="Suisse Int'l Book"/>
                        </a:rPr>
                        <a:t>1 850 000 ₽</a:t>
                      </a:r>
                    </a:p>
                  </a:txBody>
                  <a:tcPr marL="133350" marR="133350" marT="76200" marB="76200" anchor="ctr">
                    <a:solidFill>
                      <a:srgbClr val="2C374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A0D5B-5620-4E86-B532-A708B74D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200" b="1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Стоимость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FE788-8E47-459A-98CB-4E0937BE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ИТОГО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DB9CA-44F9-4C55-BC03-DB011FFE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37"/>
          </a:bodyPr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525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1 850 000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387A5-1BF9-4E3D-A2E0-A61C4DBA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42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Полная детализация этапов — в смете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9A6B2-97B8-4290-9C02-9B9A1A78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62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20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Сумма соответствует 16 этапам проекта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b3d4024d748b9">
            <a:extLst>
              <a:ext uri="{96DAC541-7B7A-43D3-8B79-37D633B846F1}">
                <asvg:svgBlip xmlns:asvg="http://schemas.microsoft.com/office/drawing/2016/SVG/main" r:embed="R2ccbc5c39b8b42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C706C-FDCD-4CAF-814A-C6AC34D8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C0D2F-48B2-438C-90B9-D6D6A177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11389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BA1B9A-ED88-4F9C-B7E8-357C5D1D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07  СРОКИ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CAB05-91D4-45F3-AC6C-8162CFDA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График на 13 недель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C3BE9-C4D8-4981-8B1C-7BF1DF70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8633D-9A22-4D1A-A1DD-0C2E1D55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5B5F7-B186-4380-A964-5D7FBC5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F461F-011B-4024-AFCE-857C263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3D586-7246-4160-9EBD-89946624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25CE7-96DA-4987-87DC-6456747A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B57C0-B751-4E2F-AE50-BB11F15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77F6C-E04B-41FF-905D-0BD8033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0C145-E9F1-4053-B6CE-1F1FC46E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30105-A845-4645-ABD6-B4896A44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AB38A-D440-4EDD-8C93-6BD2262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F72B8-6095-4E7C-A471-25747A04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DC73D-C09A-4B81-8368-90E268A6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1ABDF-7BF3-4D49-BB59-5A11EE78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F246E-CE7F-4469-A1E1-E47E8E5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04473-7869-46DB-8E22-502DCEE0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09C22-44B7-4A63-B8C8-EC0974F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EB24F-9342-4C6A-9E38-24BE6236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DD298-34F4-442B-BC5B-A18BABAC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D4754-0E12-4159-A0A1-30422AB3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27A92-21D0-4F8F-9533-3CC3B94B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6B228-B4A9-4016-B7C2-0C5A462E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510A0-72F2-49C6-B1DF-74277B62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31976-AF68-4B2A-8A44-D3C17388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132D2-1D50-47D9-A891-E5B62FF8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383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86B84-6143-4A3A-83F1-5A122C2A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193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9C731-9A80-4CD3-9103-C75480F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562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5798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1F06F-1176-4FE1-BCE4-A6573E28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Исследование</a:t>
            </a:r>
          </a:p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и концепция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145A8C-BE67-4B75-BCF6-2E569321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48025"/>
            <a:ext cx="1562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293A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15C418-310A-4BA3-A67F-26E23699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956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Логотип</a:t>
            </a:r>
          </a:p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и айдентика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B59EE-F612-4FB5-8746-A48E5B5A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1562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BA7B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DA9970-CF05-4052-9550-5C1C6128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623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Бренд-система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4E02CD-5B01-49CF-8CAB-FBD3722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81475"/>
            <a:ext cx="2362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C7C8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737F02-5DFB-4BEB-B726-2ABC620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291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Упаковка, полиграфия, retail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A0E221-2B80-414B-B9F7-52BC014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48200"/>
            <a:ext cx="1562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AAB2B9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48476A-E8F1-408D-BC15-86A925E7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95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90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Digital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B422E9-F3B9-4A8F-9CDD-EE1E6D71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14925"/>
            <a:ext cx="2362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374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F01DA2-A889-4917-B4EC-DB591107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625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050" b="1" i="0">
                <a:solidFill>
                  <a:srgbClr val="FFFFFF"/>
                </a:solidFill>
                <a:latin typeface="Suisse Int'l Book"/>
                <a:ea typeface="Suisse Int'l Book"/>
                <a:cs typeface="Suisse Int'l Book"/>
              </a:rPr>
              <a:t>Брендбук и передача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4146CB-F5C3-454C-A0C0-FC089DCE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15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r">
              <a:defRPr sz="2100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100" b="0" i="0">
                <a:solidFill>
                  <a:srgbClr val="65798D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11–13 рабочих недель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2ad4a4e204d55">
            <a:extLst>
              <a:ext uri="{96DAC541-7B7A-43D3-8B79-37D633B846F1}">
                <asvg:svgBlip xmlns:asvg="http://schemas.microsoft.com/office/drawing/2016/SVG/main" r:embed="R10947f433b2640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47A7A1-CCAD-4711-8591-498F00E0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86E112-1585-473F-A031-4B2228B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45041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7422B-C264-4656-8277-520D2140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08  УСЛОВИЯ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67EDF-F026-4222-8A27-E818D12F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600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Условия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79FDC-ABEE-425B-8341-9764131A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КОРРЕКТИРОВКИ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703BE-4582-4050-BBBD-B6E947AA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2175" b="0" i="0">
                <a:solidFill>
                  <a:srgbClr val="17202A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До 2 раундов на ключевых этапах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BB310-0620-4CB0-ACF3-07E06C5A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00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Следующий этап начинается после утверждения предыдущего ключевого решения. Существенный возврат к отклонённым направлениям оценивается отдельно.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408C3-5EE9-48EE-B746-01D85773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95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35C64-9A3B-4D6C-B03B-C0B0861A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ЗА РАМКАМИ СМЕТЫ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6A63B-D932-49E5-8D42-9BCA01D3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572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Производство упаковки; фотограф, модели и ретушь; архитектурное проектирование; разработка сайта; полный копирайтинг; коммерческие лицензии; юридическое согласование третьих лиц.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D48E0-5889-47AF-8871-E93E7910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275" b="0" i="0">
                <a:solidFill>
                  <a:srgbClr val="68717A"/>
                </a:solidFill>
                <a:latin typeface="Suisse Int'l Book"/>
                <a:ea typeface="Suisse Int'l Book"/>
                <a:cs typeface="Suisse Int'l Book"/>
              </a:rPr>
              <a:t>Полный перечень зафиксирован в детальной смете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c8b158f7d463a">
            <a:extLst>
              <a:ext uri="{96DAC541-7B7A-43D3-8B79-37D633B846F1}">
                <asvg:svgBlip xmlns:asvg="http://schemas.microsoft.com/office/drawing/2016/SVG/main" r:embed="R33322815e5d249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324DC-A035-4A80-84A6-C0EB882A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57430-E3AB-4729-9CA5-9EB0F591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17202A"/>
                </a:solidFill>
                <a:latin typeface="Suisse Int'l Book"/>
                <a:ea typeface="Suisse Int'l Book"/>
                <a:cs typeface="Suisse Int'l Book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8941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2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C0E3F-5B2B-46F6-A11E-B7D36D7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3622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2bc8ba2b040bf"/>
          <a:stretch xmlns:a="http://schemas.openxmlformats.org/drawingml/2006/main"/>
        </p:blipFill>
        <p:spPr>
          <a:xfrm xmlns:a="http://schemas.openxmlformats.org/drawingml/2006/main">
            <a:off x="609600" y="533400"/>
            <a:ext cx="21336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B7D99-0629-4551-93B1-E4715FB3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1" i="0">
                <a:solidFill>
                  <a:srgbClr val="65798D"/>
                </a:solidFill>
                <a:latin typeface="Suisse Int'l Book"/>
                <a:ea typeface="Suisse Int'l Book"/>
                <a:cs typeface="Suisse Int'l Book"/>
              </a:rPr>
              <a:t>РЕЗУЛЬТАТ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85F87-6901-4F28-95EF-AD15F92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59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39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Полноценная бренд-система КАСТ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4C777-2E08-4DD9-BE2A-E95FF7D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725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Для команды, подрядчиков, печати, retail и 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0D3BF-8DC0-48A9-8525-47D9D98A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048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PDF брендбука + исходник</a:t>
            </a:r>
          </a:p>
          <a:p xmlns:a="http://schemas.openxmlformats.org/drawingml/2006/main">
            <a:pPr algn="l">
              <a:defRPr sz="157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AI / EPS / SVG / PNG</a:t>
            </a:r>
          </a:p>
          <a:p xmlns:a="http://schemas.openxmlformats.org/drawingml/2006/main">
            <a:pPr algn="l">
              <a:defRPr sz="157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57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Print-ready · ASE · Figma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95DA7-AE5A-4D07-BE33-FEB6BEA9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335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2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defRPr>
            </a:pPr>
            <a:r>
              <a:rPr sz="4200" b="0" i="0">
                <a:solidFill>
                  <a:srgbClr val="FAF9F6"/>
                </a:solidFill>
                <a:latin typeface="Roslindale Cyrillic Deck Narrow"/>
                <a:ea typeface="Roslindale Cyrillic Deck Narrow"/>
                <a:cs typeface="Roslindale Cyrillic Deck Narrow"/>
              </a:rPr>
              <a:t>1 850 000 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19EEC-5556-41FD-A518-98E12EF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800" b="0" i="0">
                <a:solidFill>
                  <a:srgbClr val="B8C0C7"/>
                </a:solidFill>
                <a:latin typeface="Suisse Int'l Book"/>
                <a:ea typeface="Suisse Int'l Book"/>
                <a:cs typeface="Suisse Int'l Book"/>
              </a:rPr>
              <a:t>11–13 рабочих недель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4850461014b4c">
            <a:extLst>
              <a:ext uri="{96DAC541-7B7A-43D3-8B79-37D633B846F1}">
                <asvg:svgBlip xmlns:asvg="http://schemas.microsoft.com/office/drawing/2016/SVG/main" r:embed="Raf104838078b42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" y="62674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E912F-529D-4599-99BB-041E1734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Alexey Razuvaev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DAAA4-78B6-460E-83C7-01C95FA5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38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defRPr>
            </a:pPr>
            <a:r>
              <a:rPr sz="1125" b="0" i="0">
                <a:solidFill>
                  <a:srgbClr val="FAF9F6"/>
                </a:solidFill>
                <a:latin typeface="Suisse Int'l Book"/>
                <a:ea typeface="Suisse Int'l Book"/>
                <a:cs typeface="Suisse Int'l Book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6208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2026-09-08T12:21:11.5350000Z</dcterms:created>
  <dcterms:modified xsi:type="dcterms:W3CDTF">2026-09-08T12:21:11.5350000Z</dcterms:modified>
</coreProperties>
</file>